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715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142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093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7212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5228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128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925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7833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491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683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1696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9821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7015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1751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6750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978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DFE37-08C1-4839-9CF5-DB37A4DC4DB3}" type="datetimeFigureOut">
              <a:rPr lang="es-MX" smtClean="0"/>
              <a:t>31/08/2025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C86F9-181D-4D1E-BA8B-85C44447FA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269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mireles@utt.edu.m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B8C8B8DA-9DB8-4F65-B33B-E4EEB38DD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s-MX">
                <a:solidFill>
                  <a:schemeClr val="tx1"/>
                </a:solidFill>
                <a:hlinkClick r:id="rId2"/>
              </a:rPr>
              <a:t>M.C José Eduardo Mireles Méndez</a:t>
            </a:r>
          </a:p>
          <a:p>
            <a:r>
              <a:rPr lang="es-MX">
                <a:solidFill>
                  <a:schemeClr val="tx1"/>
                </a:solidFill>
                <a:hlinkClick r:id="rId2"/>
              </a:rPr>
              <a:t>jmireles@utt.edu.mx</a:t>
            </a:r>
            <a:endParaRPr lang="es-MX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C52B47-C650-46AE-BD60-B4B6A6C69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es-MX">
                <a:latin typeface="Source Sans Pro Light" pitchFamily="18"/>
                <a:cs typeface="Tahoma" pitchFamily="2"/>
              </a:rPr>
              <a:t>MICROCONTROLADORES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29521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378806-840E-40E9-BF2D-EDBC772CA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TEMARIO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4D791D-A9B0-477A-89E8-7CC431221455}"/>
              </a:ext>
            </a:extLst>
          </p:cNvPr>
          <p:cNvSpPr txBox="1">
            <a:spLocks/>
          </p:cNvSpPr>
          <p:nvPr/>
        </p:nvSpPr>
        <p:spPr>
          <a:xfrm>
            <a:off x="6116084" y="609601"/>
            <a:ext cx="5511296" cy="5175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UNIDAD 1. ARQUITECTURA INTERNA DE LOS MICROCONTROLADORES.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 err="1">
                <a:solidFill>
                  <a:srgbClr val="FFFFFF"/>
                </a:solidFill>
              </a:rPr>
              <a:t>Recursos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comunes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todos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microcontroladores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rgbClr val="FFFFFF"/>
                </a:solidFill>
              </a:rPr>
              <a:t>Mapas de </a:t>
            </a:r>
            <a:r>
              <a:rPr lang="en-US" dirty="0" err="1">
                <a:solidFill>
                  <a:srgbClr val="FFFFFF"/>
                </a:solidFill>
              </a:rPr>
              <a:t>memoria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registros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uso</a:t>
            </a:r>
            <a:r>
              <a:rPr lang="en-US" dirty="0">
                <a:solidFill>
                  <a:srgbClr val="FFFFFF"/>
                </a:solidFill>
              </a:rPr>
              <a:t> especial (SFR).</a:t>
            </a:r>
          </a:p>
          <a:p>
            <a:pPr>
              <a:buClr>
                <a:schemeClr val="bg1"/>
              </a:buClr>
            </a:pPr>
            <a:r>
              <a:rPr lang="en-US" dirty="0" err="1">
                <a:solidFill>
                  <a:srgbClr val="FFFFFF"/>
                </a:solidFill>
              </a:rPr>
              <a:t>Recursos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especiales</a:t>
            </a:r>
            <a:r>
              <a:rPr lang="en-US" dirty="0">
                <a:solidFill>
                  <a:srgbClr val="FFFFFF"/>
                </a:solidFill>
              </a:rPr>
              <a:t> (PWM, ADC, TIMERS, CCP).</a:t>
            </a:r>
          </a:p>
          <a:p>
            <a:pPr marL="0" lvl="1" indent="0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594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5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5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6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F6095D-632C-4980-B6A3-F71FD13B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TEMARIO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B2751D-7DB5-4AB3-A770-8E5FEFC28DF0}"/>
              </a:ext>
            </a:extLst>
          </p:cNvPr>
          <p:cNvSpPr txBox="1">
            <a:spLocks/>
          </p:cNvSpPr>
          <p:nvPr/>
        </p:nvSpPr>
        <p:spPr>
          <a:xfrm>
            <a:off x="6116084" y="609601"/>
            <a:ext cx="5511296" cy="5175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UNIDAD 2. COMPILADOR C PARA MICROCONTROLADORES.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 err="1">
                <a:solidFill>
                  <a:srgbClr val="FFFFFF"/>
                </a:solidFill>
              </a:rPr>
              <a:t>Introducción</a:t>
            </a:r>
            <a:r>
              <a:rPr lang="en-US" dirty="0">
                <a:solidFill>
                  <a:srgbClr val="FFFFFF"/>
                </a:solidFill>
              </a:rPr>
              <a:t> al </a:t>
            </a:r>
            <a:r>
              <a:rPr lang="en-US" dirty="0" err="1">
                <a:solidFill>
                  <a:srgbClr val="FFFFFF"/>
                </a:solidFill>
              </a:rPr>
              <a:t>entorno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desarrollo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buClr>
                <a:schemeClr val="bg1"/>
              </a:buClr>
            </a:pPr>
            <a:r>
              <a:rPr lang="en-US" dirty="0" err="1">
                <a:solidFill>
                  <a:srgbClr val="FFFFFF"/>
                </a:solidFill>
              </a:rPr>
              <a:t>Instrucciones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básicas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sentencias</a:t>
            </a:r>
            <a:r>
              <a:rPr lang="en-US" dirty="0">
                <a:solidFill>
                  <a:srgbClr val="FFFFFF"/>
                </a:solidFill>
              </a:rPr>
              <a:t> de control.</a:t>
            </a:r>
          </a:p>
          <a:p>
            <a:pPr>
              <a:buClr>
                <a:schemeClr val="bg1"/>
              </a:buClr>
            </a:pPr>
            <a:r>
              <a:rPr lang="en-US" dirty="0" err="1">
                <a:solidFill>
                  <a:srgbClr val="FFFFFF"/>
                </a:solidFill>
              </a:rPr>
              <a:t>Interrupciones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temporizadores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 marL="0" lvl="1" indent="0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26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4BC515-A3F4-4684-8C76-45B6477F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TEMARIO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9004DB-681C-48A4-BD0C-5FBB6E330976}"/>
              </a:ext>
            </a:extLst>
          </p:cNvPr>
          <p:cNvSpPr txBox="1">
            <a:spLocks/>
          </p:cNvSpPr>
          <p:nvPr/>
        </p:nvSpPr>
        <p:spPr>
          <a:xfrm>
            <a:off x="6116084" y="609601"/>
            <a:ext cx="5511296" cy="5175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UNIDAD 3. APLICACIONES PARA EL CONTROL DE PROCESOS Y COMUNICACIONES.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rgbClr val="FFFFFF"/>
                </a:solidFill>
              </a:rPr>
              <a:t>Control de </a:t>
            </a:r>
            <a:r>
              <a:rPr lang="en-US" dirty="0" err="1">
                <a:solidFill>
                  <a:srgbClr val="FFFFFF"/>
                </a:solidFill>
              </a:rPr>
              <a:t>puertos</a:t>
            </a:r>
            <a:r>
              <a:rPr lang="en-US" dirty="0">
                <a:solidFill>
                  <a:srgbClr val="FFFFFF"/>
                </a:solidFill>
              </a:rPr>
              <a:t> y </a:t>
            </a:r>
            <a:r>
              <a:rPr lang="en-US" dirty="0" err="1">
                <a:solidFill>
                  <a:srgbClr val="FFFFFF"/>
                </a:solidFill>
              </a:rPr>
              <a:t>dispositivos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periféricos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buClr>
                <a:schemeClr val="bg1"/>
              </a:buClr>
            </a:pPr>
            <a:r>
              <a:rPr lang="en-US" dirty="0" err="1">
                <a:solidFill>
                  <a:srgbClr val="FFFFFF"/>
                </a:solidFill>
              </a:rPr>
              <a:t>Comunicación</a:t>
            </a:r>
            <a:r>
              <a:rPr lang="en-US" dirty="0">
                <a:solidFill>
                  <a:srgbClr val="FFFFFF"/>
                </a:solidFill>
              </a:rPr>
              <a:t> serial.</a:t>
            </a:r>
          </a:p>
          <a:p>
            <a:pPr>
              <a:buClr>
                <a:schemeClr val="bg1"/>
              </a:buClr>
            </a:pPr>
            <a:r>
              <a:rPr lang="en-US" dirty="0" err="1">
                <a:solidFill>
                  <a:srgbClr val="FFFFFF"/>
                </a:solidFill>
              </a:rPr>
              <a:t>Algoritmos</a:t>
            </a:r>
            <a:r>
              <a:rPr lang="en-US" dirty="0">
                <a:solidFill>
                  <a:srgbClr val="FFFFFF"/>
                </a:solidFill>
              </a:rPr>
              <a:t> para </a:t>
            </a:r>
            <a:r>
              <a:rPr lang="en-US" dirty="0" err="1">
                <a:solidFill>
                  <a:srgbClr val="FFFFFF"/>
                </a:solidFill>
              </a:rPr>
              <a:t>el</a:t>
            </a:r>
            <a:r>
              <a:rPr lang="en-US" dirty="0">
                <a:solidFill>
                  <a:srgbClr val="FFFFFF"/>
                </a:solidFill>
              </a:rPr>
              <a:t> control de </a:t>
            </a:r>
            <a:r>
              <a:rPr lang="en-US" dirty="0" err="1">
                <a:solidFill>
                  <a:srgbClr val="FFFFFF"/>
                </a:solidFill>
              </a:rPr>
              <a:t>procesos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868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7E4CBE2-EABB-4429-BA19-1945BB67A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EVALUACIÓN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3C1F9C-BFB2-463C-9FE7-21F2B62D8BE9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r>
              <a:rPr lang="en-US" dirty="0"/>
              <a:t>								SABER				 0%</a:t>
            </a:r>
          </a:p>
          <a:p>
            <a:pPr marL="0" indent="0">
              <a:buNone/>
            </a:pPr>
            <a:r>
              <a:rPr lang="en-US" dirty="0"/>
              <a:t>								SABER HACER		70%</a:t>
            </a:r>
          </a:p>
          <a:p>
            <a:pPr marL="0" indent="0">
              <a:buNone/>
            </a:pPr>
            <a:r>
              <a:rPr lang="en-US" dirty="0"/>
              <a:t>								SER					30%</a:t>
            </a:r>
          </a:p>
          <a:p>
            <a:pPr marL="0" indent="0">
              <a:buNone/>
            </a:pPr>
            <a:r>
              <a:rPr lang="en-US" dirty="0"/>
              <a:t>			      		  		 ----------------------------------------</a:t>
            </a:r>
          </a:p>
          <a:p>
            <a:pPr marL="0" indent="0">
              <a:buNone/>
            </a:pPr>
            <a:r>
              <a:rPr lang="en-US" dirty="0"/>
              <a:t>								TOTAL				100%</a:t>
            </a:r>
          </a:p>
        </p:txBody>
      </p:sp>
    </p:spTree>
    <p:extLst>
      <p:ext uri="{BB962C8B-B14F-4D97-AF65-F5344CB8AC3E}">
        <p14:creationId xmlns:p14="http://schemas.microsoft.com/office/powerpoint/2010/main" val="3798613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7CD31F-A5B3-4A97-AB81-7DDC7308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CALENDARIO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0EB82C-27E3-48F1-8DE5-5A99B3E233E1}"/>
              </a:ext>
            </a:extLst>
          </p:cNvPr>
          <p:cNvSpPr txBox="1">
            <a:spLocks/>
          </p:cNvSpPr>
          <p:nvPr/>
        </p:nvSpPr>
        <p:spPr>
          <a:xfrm>
            <a:off x="673754" y="2160590"/>
            <a:ext cx="3973943" cy="3440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Inicio de cuatrimestre: 1 de Septiembre de 2025.</a:t>
            </a:r>
          </a:p>
          <a:p>
            <a:r>
              <a:rPr lang="en-US">
                <a:solidFill>
                  <a:schemeClr val="bg1"/>
                </a:solidFill>
              </a:rPr>
              <a:t>Días inhábiles: 16 de Septiembre y 17 de Noviembre.</a:t>
            </a:r>
          </a:p>
          <a:p>
            <a:r>
              <a:rPr lang="en-US">
                <a:solidFill>
                  <a:schemeClr val="bg1"/>
                </a:solidFill>
              </a:rPr>
              <a:t>Termino de clases: 4 de Diciembre.</a:t>
            </a:r>
          </a:p>
          <a:p>
            <a:r>
              <a:rPr lang="en-US">
                <a:solidFill>
                  <a:schemeClr val="bg1"/>
                </a:solidFill>
              </a:rPr>
              <a:t>Remediales: 5 y 8 de Diciembre.</a:t>
            </a:r>
          </a:p>
          <a:p>
            <a:r>
              <a:rPr lang="en-US">
                <a:solidFill>
                  <a:schemeClr val="bg1"/>
                </a:solidFill>
              </a:rPr>
              <a:t>Extraordinarios: 9 y 10 de Diciembre.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81713F-8144-DB8F-9BEF-920D37D0C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627370"/>
            <a:ext cx="5143500" cy="3590744"/>
          </a:xfrm>
          <a:prstGeom prst="rect">
            <a:avLst/>
          </a:prstGeom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18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20461C9-606A-4BB6-A993-834878713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BIBLIOGRAFÍA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AD4FA0-ED3C-42E8-9131-482283DD3F00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Hoja de </a:t>
            </a:r>
            <a:r>
              <a:rPr lang="en-US" dirty="0" err="1"/>
              <a:t>datos</a:t>
            </a:r>
            <a:r>
              <a:rPr lang="en-US" dirty="0"/>
              <a:t> STM32F103C8T6 (DS5319).</a:t>
            </a:r>
          </a:p>
          <a:p>
            <a:pPr marL="0" indent="0">
              <a:buNone/>
            </a:pPr>
            <a:r>
              <a:rPr lang="en-US" dirty="0"/>
              <a:t>     STMicroelectronics.</a:t>
            </a:r>
          </a:p>
          <a:p>
            <a:endParaRPr lang="en-US" dirty="0"/>
          </a:p>
          <a:p>
            <a:r>
              <a:rPr lang="en-US" dirty="0"/>
              <a:t>Manual de </a:t>
            </a:r>
            <a:r>
              <a:rPr lang="en-US" dirty="0" err="1"/>
              <a:t>Referencia</a:t>
            </a:r>
            <a:r>
              <a:rPr lang="en-US" dirty="0"/>
              <a:t> STM32F103C8T6 (RM0008).</a:t>
            </a:r>
          </a:p>
          <a:p>
            <a:pPr marL="0" indent="0">
              <a:buNone/>
            </a:pPr>
            <a:r>
              <a:rPr lang="en-US" dirty="0"/>
              <a:t>    STMicroelectronics.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84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7">
            <a:extLst>
              <a:ext uri="{FF2B5EF4-FFF2-40B4-BE49-F238E27FC236}">
                <a16:creationId xmlns:a16="http://schemas.microsoft.com/office/drawing/2014/main" id="{09EA7EA7-74F5-4EE2-8E3D-1A10308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CE79B5-7EE4-424D-AD14-5DEFB61B8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6C926F-F999-44BA-8D86-9EAB51D6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23">
              <a:extLst>
                <a:ext uri="{FF2B5EF4-FFF2-40B4-BE49-F238E27FC236}">
                  <a16:creationId xmlns:a16="http://schemas.microsoft.com/office/drawing/2014/main" id="{248745E7-0AF0-48F9-8E58-2673FC5F4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9715E81A-D2E0-4431-9370-4E4A9ECA7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3" name="Isosceles Triangle 12">
              <a:extLst>
                <a:ext uri="{FF2B5EF4-FFF2-40B4-BE49-F238E27FC236}">
                  <a16:creationId xmlns:a16="http://schemas.microsoft.com/office/drawing/2014/main" id="{CEDB37A9-282D-4DDB-85AD-B2090A82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4" name="Rectangle 27">
              <a:extLst>
                <a:ext uri="{FF2B5EF4-FFF2-40B4-BE49-F238E27FC236}">
                  <a16:creationId xmlns:a16="http://schemas.microsoft.com/office/drawing/2014/main" id="{533D5933-7F91-4F5E-BC31-42FD0E2D8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5" name="Rectangle 28">
              <a:extLst>
                <a:ext uri="{FF2B5EF4-FFF2-40B4-BE49-F238E27FC236}">
                  <a16:creationId xmlns:a16="http://schemas.microsoft.com/office/drawing/2014/main" id="{37ADDF68-C9BE-46EA-83DE-2C07DD839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6" name="Rectangle 29">
              <a:extLst>
                <a:ext uri="{FF2B5EF4-FFF2-40B4-BE49-F238E27FC236}">
                  <a16:creationId xmlns:a16="http://schemas.microsoft.com/office/drawing/2014/main" id="{10D67396-BABD-48A8-A892-CCB5095FA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7" name="Isosceles Triangle 16">
              <a:extLst>
                <a:ext uri="{FF2B5EF4-FFF2-40B4-BE49-F238E27FC236}">
                  <a16:creationId xmlns:a16="http://schemas.microsoft.com/office/drawing/2014/main" id="{626DA82A-72C2-4DF6-9CF0-0D1F6B96B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48" name="Isosceles Triangle 17">
              <a:extLst>
                <a:ext uri="{FF2B5EF4-FFF2-40B4-BE49-F238E27FC236}">
                  <a16:creationId xmlns:a16="http://schemas.microsoft.com/office/drawing/2014/main" id="{8EE6DC63-4380-4BE0-A68A-8F01162BD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 useBgFill="1">
        <p:nvSpPr>
          <p:cNvPr id="49" name="Rectangle 19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21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23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52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54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55" name="Isosceles Triangle 31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660E54B-C1D2-4065-B952-44CEC8CC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BIBLIOGRAFÍA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85B39B-4A9D-4161-BC1C-25FF492855F4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Mastering STM32. </a:t>
            </a:r>
          </a:p>
          <a:p>
            <a:pPr marL="0" indent="0">
              <a:buNone/>
            </a:pPr>
            <a:r>
              <a:rPr lang="en-US" dirty="0"/>
              <a:t>     Carmine Noviello.</a:t>
            </a:r>
          </a:p>
          <a:p>
            <a:pPr marL="0" indent="0">
              <a:buNone/>
            </a:pPr>
            <a:r>
              <a:rPr lang="en-US" dirty="0"/>
              <a:t>     https://leanpub.com/mastering-stm32-2nd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07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172</TotalTime>
  <Words>269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Source Sans Pro Light</vt:lpstr>
      <vt:lpstr>Trebuchet MS</vt:lpstr>
      <vt:lpstr>Wingdings 3</vt:lpstr>
      <vt:lpstr>Faceta</vt:lpstr>
      <vt:lpstr>MICROCONTROLADORES</vt:lpstr>
      <vt:lpstr>TEMARIO</vt:lpstr>
      <vt:lpstr>TEMARIO</vt:lpstr>
      <vt:lpstr>TEMARIO</vt:lpstr>
      <vt:lpstr>EVALUACIÓN</vt:lpstr>
      <vt:lpstr>CALENDARIO</vt:lpstr>
      <vt:lpstr>BIBLIOGRAFÍA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MICROCONTROLADORES</dc:title>
  <dc:creator>Eduardo Mireles</dc:creator>
  <cp:lastModifiedBy>Eduardo Mireles</cp:lastModifiedBy>
  <cp:revision>9</cp:revision>
  <cp:lastPrinted>2025-09-01T02:46:39Z</cp:lastPrinted>
  <dcterms:created xsi:type="dcterms:W3CDTF">2021-09-06T04:57:50Z</dcterms:created>
  <dcterms:modified xsi:type="dcterms:W3CDTF">2025-09-01T02:47:47Z</dcterms:modified>
</cp:coreProperties>
</file>